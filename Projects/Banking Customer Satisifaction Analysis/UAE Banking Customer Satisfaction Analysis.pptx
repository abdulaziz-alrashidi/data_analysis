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34"/>
  </p:notesMasterIdLst>
  <p:sldIdLst>
    <p:sldId id="256" r:id="rId3"/>
    <p:sldId id="264" r:id="rId4"/>
    <p:sldId id="292" r:id="rId5"/>
    <p:sldId id="265" r:id="rId6"/>
    <p:sldId id="266" r:id="rId7"/>
    <p:sldId id="268" r:id="rId8"/>
    <p:sldId id="267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3" r:id="rId32"/>
    <p:sldId id="29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110" y="1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7E0C2-B96F-4E39-9895-8E1C1B18344F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03C88-79D2-4C92-BE12-F841DCBAB50C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86194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03C88-79D2-4C92-BE12-F841DCBAB50C}" type="slidenum">
              <a:rPr lang="en-001" smtClean="0"/>
              <a:t>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374119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1163-00D1-A308-ABE7-B1B31ED3E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9D182-9540-E73E-042C-D80D7F8BC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86F541-DADD-8EB8-93A7-25E02DF46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85042-A403-2564-9642-C756A3DA3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03C88-79D2-4C92-BE12-F841DCBAB50C}" type="slidenum">
              <a:rPr lang="en-001" smtClean="0"/>
              <a:t>6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57565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C27E1-082C-5C8E-3299-BF9BFB76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E5DF3-386B-9CE3-C61D-CCEF230947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3556B3-4AFB-C023-6C47-CC0BB2A5B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58200-1617-DFA2-EB1C-72B0C0089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03C88-79D2-4C92-BE12-F841DCBAB50C}" type="slidenum">
              <a:rPr lang="en-001" smtClean="0"/>
              <a:t>14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671570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147A5-6722-9099-5E9E-754CA6EC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8EB198-7651-10A6-398C-87235BE1E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4C101-EEED-B4DD-8E96-342863401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D8DCF-C610-32F4-4645-0AEA6DE04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03C88-79D2-4C92-BE12-F841DCBAB50C}" type="slidenum">
              <a:rPr lang="en-001" smtClean="0"/>
              <a:t>25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850441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7D848-2F09-B445-44CD-2C8B793F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4E471-C04A-7627-00E2-754812E0A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8BB9B-8294-04D9-FCCF-610BCFEE9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00415-5475-0910-468A-6C07BCEE2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03C88-79D2-4C92-BE12-F841DCBAB50C}" type="slidenum">
              <a:rPr lang="en-001" smtClean="0"/>
              <a:t>27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54217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34D3-BDED-25DA-B9F2-B9A3AC6DF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86C44-6D80-C496-1005-DCDF5A9E2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99564-D202-B839-BB77-517557E90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00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AC94C-A044-D3A9-999C-D37AA3FB2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03C88-79D2-4C92-BE12-F841DCBAB50C}" type="slidenum">
              <a:rPr lang="en-001" smtClean="0"/>
              <a:t>31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761897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644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68406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0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2627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80713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769669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001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2206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34491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425606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42822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19576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68708-2D7A-8C6C-30A0-DB83C0767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7295F-0427-104F-A61B-5A987F45C6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298AC-FA03-0682-3BB3-82AD96ED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0634C-DC82-D868-1510-4C16A794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88E05-DEDC-253D-3AA4-693440B76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640517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CBAB-FEA5-1C25-40A5-E4AB2EFA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CD0C8-F646-8511-92BB-5DC9A43E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D7703-C81A-7123-03FD-3B9D4DB1A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0AC2A-2DF0-61BA-F61C-F7BCC6D8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03EB6-C850-998F-7A12-F0F95595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667280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A898-B12F-CC57-EE50-823832D0E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FCBD9-7DDB-6BE6-BC40-6E6D30A89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C1B76-E6DD-5D14-09F5-E2437154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8E81C-EDB7-5A49-84E5-4C477F1E5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6798A-F390-4199-BF96-AE92B1D3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34458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1E70-1C2E-27B2-8ABB-3F3380E34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6EC1-9F3A-EA26-5938-AB3878E63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AC723-1BA5-2E34-FD1A-5A95D7907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0E551-6F33-2E18-2817-D26A788A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DE98B-413E-8BF1-F938-750842858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0A737-2CD5-9C61-97A9-A7C60DF9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288850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55AA6-FA2E-4780-6276-B5294DDF3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6A56E-4DCE-3D37-E773-4A5C3E1F7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CE13E-BC00-61B8-5DA6-57E1F6DD1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386E7-CEA4-57C4-5E5B-88826F6B61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D981D4-CFBA-7A93-B2EC-80B796B8D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4A3F07-19A1-D728-D673-F905D7150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01EC2-5250-9A2A-BBA7-F1068D2E2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DC310E-3F77-D49A-7D13-F53F17CA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922544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DE54B-C4EA-CDC0-9DFC-6D6F8F0B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F2362-4632-DD7A-8993-F1752205C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C9E17-987C-0C69-FBA7-5B554D559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2D2A9A-10C7-F00F-6847-1ADE93E7F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524739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5EBCA6-568A-279F-BDF2-07544858A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56C220-2D59-27A1-9DF0-7A66794B3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8BF0C-3ED2-F3BA-DE1F-0B618087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0957064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8860-AD7D-0825-0A27-1CC32373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E8B2C-8175-C171-F818-9B5C339F3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CDEB86-715D-6D8D-CC0C-664D18FE4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E88D8-E30D-8F7D-D7D9-5B3D2D01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130F9-1596-F928-890E-2B34917E1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52639-F5D0-E105-BF48-7792EA39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31755582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D02D-6B35-71B0-4DFE-2FC74971F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52F91-3AD6-E195-337A-4E193009EE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00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37450D-99B5-0AC2-A074-463FDD4D6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753BF-0B52-7BFA-0FE0-04EB49E71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0FF42-F7AD-F1E2-4957-2111FD07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2AB04-D07A-17CC-049F-804E31ED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9412559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5C5E9-4325-5669-8A48-26402464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8540C-FD74-A3B3-FE25-8D3B4BC4F4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E8855-46B5-EA42-843C-1380D2A5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6FD22-93E5-3C9E-E38E-A200AD0C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99C73-0167-0A5C-B460-B6AFBD40B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41934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A768AD-12F3-DFF5-8BD1-6A75B63F1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DA28A-CA2C-230C-55F4-2E0CF2196F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A51D3-6DE1-A7FC-A3BF-367A74369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5F85A-D60C-7BE3-601D-62BB6118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7E9A4-C9AE-4B16-0F9C-F788903F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986646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49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9CF95-F87F-5A7F-91CD-9DF2CE594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B5E72-109F-08ED-8617-FF563A468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ABBF1-1528-C306-5DD2-EA52B2E722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FCAD4-2493-473C-A7D1-6B22ADE4601C}" type="datetimeFigureOut">
              <a:rPr lang="en-001" smtClean="0"/>
              <a:t>09/02/2026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B5C7B-4345-97D5-3FA8-9134636AF1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00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5C9BB-5202-E1AA-CAD3-2DD8BAF68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A0C1B-61B3-42FE-952D-79C6709A60AA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373154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029F-6921-76E0-9D38-91276446C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853" y="205499"/>
            <a:ext cx="11405936" cy="4005554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/>
              <a:t>UAE Banking Customer Satisfaction Analysis </a:t>
            </a:r>
            <a:br>
              <a:rPr lang="en-001" sz="5000" dirty="0"/>
            </a:br>
            <a:r>
              <a:rPr lang="en-US" sz="3000" b="1" dirty="0"/>
              <a:t>A Case Study</a:t>
            </a:r>
            <a:endParaRPr lang="en-001" sz="3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0E91D8-55C9-934A-94B2-2FAE6E1BB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001" sz="3000" b="1" cap="none" dirty="0"/>
              <a:t>Abdulaziz Alrashidi</a:t>
            </a:r>
          </a:p>
        </p:txBody>
      </p:sp>
    </p:spTree>
    <p:extLst>
      <p:ext uri="{BB962C8B-B14F-4D97-AF65-F5344CB8AC3E}">
        <p14:creationId xmlns:p14="http://schemas.microsoft.com/office/powerpoint/2010/main" val="46293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A17D565B-5DB5-4737-9AB3-F2E2D974C71E}"/>
              </a:ext>
            </a:extLst>
          </p:cNvPr>
          <p:cNvSpPr/>
          <p:nvPr/>
        </p:nvSpPr>
        <p:spPr>
          <a:xfrm>
            <a:off x="0" y="6787783"/>
            <a:ext cx="12192000" cy="7021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953DFBA-01AD-4DC5-962C-D6FE0645EED6}"/>
              </a:ext>
            </a:extLst>
          </p:cNvPr>
          <p:cNvSpPr/>
          <p:nvPr/>
        </p:nvSpPr>
        <p:spPr>
          <a:xfrm>
            <a:off x="73151" y="1075685"/>
            <a:ext cx="2909011" cy="5664230"/>
          </a:xfrm>
          <a:prstGeom prst="rect">
            <a:avLst/>
          </a:prstGeom>
          <a:solidFill>
            <a:srgbClr val="EAF0F8"/>
          </a:solidFill>
          <a:ln>
            <a:noFill/>
          </a:ln>
          <a:effectLst>
            <a:outerShdw dist="50800" dir="5400000" algn="ctr" rotWithShape="0">
              <a:srgbClr val="000000">
                <a:alpha val="51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BC6BF-D2A6-4015-85A8-820F64C851BC}"/>
              </a:ext>
            </a:extLst>
          </p:cNvPr>
          <p:cNvSpPr txBox="1"/>
          <p:nvPr/>
        </p:nvSpPr>
        <p:spPr>
          <a:xfrm>
            <a:off x="71316" y="1059705"/>
            <a:ext cx="2909011" cy="40011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001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001" sz="20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0A86A-B9AB-48EF-A2BE-85D703C19E36}"/>
              </a:ext>
            </a:extLst>
          </p:cNvPr>
          <p:cNvSpPr txBox="1"/>
          <p:nvPr/>
        </p:nvSpPr>
        <p:spPr>
          <a:xfrm>
            <a:off x="115824" y="1442404"/>
            <a:ext cx="27980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Analyze UAE banking CSAT survey data to identify the primary drivers of customer satisfaction and uncover key trends across customer segments</a:t>
            </a:r>
            <a:r>
              <a:rPr lang="en-001" sz="900" dirty="0"/>
              <a:t>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4177515-2214-49C6-B476-6DDEB22CC451}"/>
              </a:ext>
            </a:extLst>
          </p:cNvPr>
          <p:cNvSpPr/>
          <p:nvPr/>
        </p:nvSpPr>
        <p:spPr>
          <a:xfrm>
            <a:off x="0" y="0"/>
            <a:ext cx="12192000" cy="98524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D94906D-F829-43D7-92A8-269128051EA6}"/>
              </a:ext>
            </a:extLst>
          </p:cNvPr>
          <p:cNvSpPr txBox="1"/>
          <p:nvPr/>
        </p:nvSpPr>
        <p:spPr>
          <a:xfrm>
            <a:off x="1792694" y="109203"/>
            <a:ext cx="81530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4000" dirty="0">
                <a:solidFill>
                  <a:schemeClr val="bg1"/>
                </a:solidFill>
              </a:rPr>
              <a:t>Executive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DD0D33-3527-F277-61EC-D168AFC73688}"/>
              </a:ext>
            </a:extLst>
          </p:cNvPr>
          <p:cNvSpPr/>
          <p:nvPr/>
        </p:nvSpPr>
        <p:spPr>
          <a:xfrm>
            <a:off x="3028505" y="1075685"/>
            <a:ext cx="2938197" cy="5664230"/>
          </a:xfrm>
          <a:prstGeom prst="rect">
            <a:avLst/>
          </a:prstGeom>
          <a:solidFill>
            <a:srgbClr val="EAF0F8"/>
          </a:solidFill>
          <a:ln>
            <a:noFill/>
          </a:ln>
          <a:effectLst>
            <a:outerShdw dist="50800" dir="5400000" algn="ctr" rotWithShape="0">
              <a:srgbClr val="000000">
                <a:alpha val="51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CEFF3-A321-4AB1-9A6C-291C9FD88049}"/>
              </a:ext>
            </a:extLst>
          </p:cNvPr>
          <p:cNvSpPr txBox="1"/>
          <p:nvPr/>
        </p:nvSpPr>
        <p:spPr>
          <a:xfrm>
            <a:off x="3028506" y="1060407"/>
            <a:ext cx="2938196" cy="40011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001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Master Driver</a:t>
            </a:r>
            <a:endParaRPr lang="en-001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36636-4F7D-D843-A1C0-46BA1B70DFC2}"/>
              </a:ext>
            </a:extLst>
          </p:cNvPr>
          <p:cNvSpPr txBox="1"/>
          <p:nvPr/>
        </p:nvSpPr>
        <p:spPr>
          <a:xfrm>
            <a:off x="3026671" y="1442403"/>
            <a:ext cx="279806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001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Physical infrastructure</a:t>
            </a:r>
            <a:r>
              <a:rPr lang="en-001" sz="1600" dirty="0">
                <a:solidFill>
                  <a:srgbClr val="C00000"/>
                </a:solidFill>
              </a:rPr>
              <a:t> </a:t>
            </a:r>
            <a:r>
              <a:rPr lang="en-001" sz="1600" dirty="0"/>
              <a:t>factor, which has </a:t>
            </a:r>
            <a:r>
              <a:rPr lang="en-US" sz="1600" dirty="0"/>
              <a:t>branch coverage, ATM availability, waiting times, and facility comfort</a:t>
            </a:r>
            <a:r>
              <a:rPr lang="en-001" sz="1600" dirty="0"/>
              <a:t>, is </a:t>
            </a:r>
            <a:r>
              <a:rPr lang="en-US" sz="1600" dirty="0"/>
              <a:t>the most significant driver of customer satisfaction.</a:t>
            </a:r>
            <a:endParaRPr lang="en-001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factor is </a:t>
            </a:r>
            <a:r>
              <a:rPr lang="en-US" sz="1600" dirty="0">
                <a:solidFill>
                  <a:srgbClr val="C00000"/>
                </a:solidFill>
              </a:rPr>
              <a:t>bi-directional</a:t>
            </a:r>
            <a:r>
              <a:rPr lang="en-US" sz="1600" dirty="0"/>
              <a:t>, having the strongest impact on both increasing and decreasing </a:t>
            </a:r>
            <a:r>
              <a:rPr lang="en-001" sz="1600" dirty="0"/>
              <a:t>the overall satisfaction</a:t>
            </a:r>
            <a:r>
              <a:rPr lang="en-US" sz="1600" dirty="0"/>
              <a:t> compared to other categories.</a:t>
            </a:r>
            <a:endParaRPr lang="en-001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247502-E90E-BBA6-C025-962176A86359}"/>
              </a:ext>
            </a:extLst>
          </p:cNvPr>
          <p:cNvSpPr/>
          <p:nvPr/>
        </p:nvSpPr>
        <p:spPr>
          <a:xfrm>
            <a:off x="6011210" y="1075684"/>
            <a:ext cx="2973524" cy="5664230"/>
          </a:xfrm>
          <a:prstGeom prst="rect">
            <a:avLst/>
          </a:prstGeom>
          <a:solidFill>
            <a:srgbClr val="EAF0F8"/>
          </a:solidFill>
          <a:ln>
            <a:noFill/>
          </a:ln>
          <a:effectLst>
            <a:outerShdw dist="50800" dir="5400000" algn="ctr" rotWithShape="0">
              <a:srgbClr val="000000">
                <a:alpha val="51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D2D20A-6F94-91AB-4D96-B0141465787D}"/>
              </a:ext>
            </a:extLst>
          </p:cNvPr>
          <p:cNvSpPr/>
          <p:nvPr/>
        </p:nvSpPr>
        <p:spPr>
          <a:xfrm>
            <a:off x="9043103" y="1075683"/>
            <a:ext cx="3075745" cy="5673113"/>
          </a:xfrm>
          <a:prstGeom prst="rect">
            <a:avLst/>
          </a:prstGeom>
          <a:solidFill>
            <a:srgbClr val="EAF0F8"/>
          </a:solidFill>
          <a:ln>
            <a:noFill/>
          </a:ln>
          <a:effectLst>
            <a:outerShdw dist="50800" dir="5400000" algn="ctr" rotWithShape="0">
              <a:srgbClr val="000000">
                <a:alpha val="51000"/>
              </a:srgb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C20265-30DD-FD5D-21D7-CD55FC1E0223}"/>
              </a:ext>
            </a:extLst>
          </p:cNvPr>
          <p:cNvSpPr txBox="1"/>
          <p:nvPr/>
        </p:nvSpPr>
        <p:spPr>
          <a:xfrm>
            <a:off x="6004280" y="1059705"/>
            <a:ext cx="2942876" cy="40011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001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Trends</a:t>
            </a:r>
            <a:endParaRPr lang="en-001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5FDF51-DC2F-9446-5C66-0557EF923B00}"/>
              </a:ext>
            </a:extLst>
          </p:cNvPr>
          <p:cNvSpPr txBox="1"/>
          <p:nvPr/>
        </p:nvSpPr>
        <p:spPr>
          <a:xfrm>
            <a:off x="9043102" y="1059705"/>
            <a:ext cx="3075745" cy="400110"/>
          </a:xfrm>
          <a:prstGeom prst="rect">
            <a:avLst/>
          </a:prstGeom>
          <a:solidFill>
            <a:schemeClr val="bg2">
              <a:lumMod val="5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001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  <a:endParaRPr lang="en-001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847797-BD18-1D0E-44BD-8DACC7DFF51E}"/>
              </a:ext>
            </a:extLst>
          </p:cNvPr>
          <p:cNvSpPr txBox="1"/>
          <p:nvPr/>
        </p:nvSpPr>
        <p:spPr>
          <a:xfrm>
            <a:off x="6058563" y="1459815"/>
            <a:ext cx="27980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Customers aged 50+ report lower satisfaction and show a </a:t>
            </a:r>
            <a:r>
              <a:rPr lang="en-US" sz="1600" dirty="0">
                <a:solidFill>
                  <a:srgbClr val="C00000"/>
                </a:solidFill>
              </a:rPr>
              <a:t>strong preference for in-person </a:t>
            </a:r>
            <a:r>
              <a:rPr lang="en-US" sz="1600" dirty="0"/>
              <a:t>service, while younger customers demonstrate higher satisfaction with digital channels.</a:t>
            </a:r>
            <a:endParaRPr lang="en-001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Customers in their first year consistently report lower satisfaction. </a:t>
            </a:r>
            <a:r>
              <a:rPr lang="en-001" sz="1600" dirty="0"/>
              <a:t>S</a:t>
            </a:r>
            <a:r>
              <a:rPr lang="en-US" sz="1600" dirty="0" err="1"/>
              <a:t>atisfaction</a:t>
            </a:r>
            <a:r>
              <a:rPr lang="en-US" sz="1600" dirty="0"/>
              <a:t> improves as the length of the banking relationship increases.</a:t>
            </a:r>
            <a:endParaRPr lang="en-001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34F3D8-BD27-AF44-F381-6F9FAA25C180}"/>
              </a:ext>
            </a:extLst>
          </p:cNvPr>
          <p:cNvSpPr txBox="1"/>
          <p:nvPr/>
        </p:nvSpPr>
        <p:spPr>
          <a:xfrm>
            <a:off x="9043103" y="1498802"/>
            <a:ext cx="279806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Maintain and </a:t>
            </a:r>
            <a:r>
              <a:rPr lang="en-US" sz="1600" dirty="0">
                <a:solidFill>
                  <a:srgbClr val="C00000"/>
                </a:solidFill>
              </a:rPr>
              <a:t>optimize physical assets</a:t>
            </a:r>
            <a:r>
              <a:rPr lang="en-001" sz="1600" dirty="0"/>
              <a:t>, </a:t>
            </a:r>
            <a:r>
              <a:rPr lang="en-US" sz="1600" dirty="0"/>
              <a:t>as they are the highest-impact drivers of satisfaction.  </a:t>
            </a:r>
            <a:endParaRPr lang="en-001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 </a:t>
            </a:r>
            <a:r>
              <a:rPr lang="en-US" sz="1600" dirty="0">
                <a:solidFill>
                  <a:srgbClr val="C00000"/>
                </a:solidFill>
              </a:rPr>
              <a:t>targeted service enhancements</a:t>
            </a:r>
            <a:r>
              <a:rPr lang="en-US" sz="1600" dirty="0"/>
              <a:t> for senior customers.  </a:t>
            </a:r>
            <a:endParaRPr lang="en-001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Streamline </a:t>
            </a:r>
            <a:r>
              <a:rPr lang="en-US" sz="1600" dirty="0">
                <a:solidFill>
                  <a:srgbClr val="C00000"/>
                </a:solidFill>
              </a:rPr>
              <a:t>onboarding processes</a:t>
            </a:r>
            <a:r>
              <a:rPr lang="en-US" sz="1600" dirty="0"/>
              <a:t> to improve the first-year customer experience.</a:t>
            </a:r>
            <a:endParaRPr lang="en-001" sz="1600" dirty="0"/>
          </a:p>
        </p:txBody>
      </p:sp>
    </p:spTree>
    <p:extLst>
      <p:ext uri="{BB962C8B-B14F-4D97-AF65-F5344CB8AC3E}">
        <p14:creationId xmlns:p14="http://schemas.microsoft.com/office/powerpoint/2010/main" val="327748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3FD21-3A13-888D-FB64-3ADA1F38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53E4B-F5F7-9ACF-9976-B699117EC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45CBF-4C7E-4FA9-AF87-58C93D0FB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001" b="1" dirty="0"/>
              <a:t>This presentation is divided into the following sections: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I</a:t>
            </a:r>
            <a:r>
              <a:rPr lang="en-001" dirty="0" err="1"/>
              <a:t>ntroduction</a:t>
            </a:r>
            <a:endParaRPr lang="en-001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M</a:t>
            </a:r>
            <a:r>
              <a:rPr lang="en-001" dirty="0" err="1"/>
              <a:t>ethodology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Recommendations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Limitations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489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397C-1869-2271-6971-04280CC1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4843-E5E6-1684-A305-DE552D3C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Customer satisfaction is defined as </a:t>
            </a:r>
            <a:r>
              <a:rPr lang="en-US" i="1" dirty="0"/>
              <a:t>“the customer’s perception of the degree to which their requirements have been fulfilled.”</a:t>
            </a:r>
            <a:endParaRPr lang="en-001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It can be measured through several approaches, one of the most common </a:t>
            </a:r>
            <a:r>
              <a:rPr lang="en-001" dirty="0"/>
              <a:t>method is</a:t>
            </a:r>
            <a:r>
              <a:rPr lang="en-US" dirty="0"/>
              <a:t> structured surveys that quantify satisfaction across multiple </a:t>
            </a:r>
            <a:r>
              <a:rPr lang="en-001" dirty="0"/>
              <a:t>aspect by</a:t>
            </a:r>
            <a:r>
              <a:rPr lang="en-US" dirty="0"/>
              <a:t> using a scale </a:t>
            </a:r>
            <a:r>
              <a:rPr lang="en-001" dirty="0"/>
              <a:t>1-5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This analysis utilizes data collected from a Customer Satisfaction (CSAT) survey conducted within the UAE banking market.</a:t>
            </a:r>
          </a:p>
        </p:txBody>
      </p:sp>
    </p:spTree>
    <p:extLst>
      <p:ext uri="{BB962C8B-B14F-4D97-AF65-F5344CB8AC3E}">
        <p14:creationId xmlns:p14="http://schemas.microsoft.com/office/powerpoint/2010/main" val="288826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75A0-E2F0-CB3A-4799-501235EBD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8330-DB8C-9AA6-663B-145D1F5E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B3FB4-7CEE-46DA-5036-7F11BC78E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The survey consists of 222 questions covering customer demographics, awareness, product usage, service experiences, and detailed CSAT evaluations across multiple banking </a:t>
            </a:r>
            <a:r>
              <a:rPr lang="en-001" dirty="0"/>
              <a:t>aspects</a:t>
            </a:r>
            <a:r>
              <a:rPr lang="en-US" dirty="0"/>
              <a:t>.</a:t>
            </a:r>
            <a:endParaRPr lang="en-001" dirty="0"/>
          </a:p>
          <a:p>
            <a:r>
              <a:rPr lang="en-US" b="1" dirty="0"/>
              <a:t>The primary objective of this analysis </a:t>
            </a:r>
            <a:r>
              <a:rPr lang="en-001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T</a:t>
            </a:r>
            <a:r>
              <a:rPr lang="en-US" dirty="0"/>
              <a:t>o identify the most impactful drivers of overall banking satisfaction </a:t>
            </a:r>
            <a:endParaRPr lang="en-001" dirty="0"/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T</a:t>
            </a:r>
            <a:r>
              <a:rPr lang="en-US" dirty="0"/>
              <a:t>o uncover meaningful trends across customer segments </a:t>
            </a:r>
            <a:endParaRPr lang="en-001" dirty="0"/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To recommend </a:t>
            </a:r>
            <a:r>
              <a:rPr lang="en-US" dirty="0"/>
              <a:t>strategic</a:t>
            </a:r>
            <a:r>
              <a:rPr lang="en-001" dirty="0"/>
              <a:t> and</a:t>
            </a:r>
            <a:r>
              <a:rPr lang="en-US" dirty="0"/>
              <a:t> </a:t>
            </a:r>
            <a:r>
              <a:rPr lang="en-001" dirty="0"/>
              <a:t>actionable insights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225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9C1EC-CE3D-1D74-092B-18B070B3F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7AD2-708A-3408-2347-A94D205419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032" y="2215661"/>
            <a:ext cx="11405936" cy="1615564"/>
          </a:xfrm>
        </p:spPr>
        <p:txBody>
          <a:bodyPr>
            <a:normAutofit/>
          </a:bodyPr>
          <a:lstStyle/>
          <a:p>
            <a:pPr algn="ctr"/>
            <a:r>
              <a:rPr lang="en-001" sz="7000" b="1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1345323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B5750-63E4-D878-B537-654E8D668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BF759-4104-CA03-FDC2-4AAA82057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57E89-8740-67D5-E77C-C172621A1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The methodology of this analysis is empirically driven and was refined iteratively based on insights from preliminary analysis.</a:t>
            </a:r>
            <a:r>
              <a:rPr lang="en-00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The variable </a:t>
            </a:r>
            <a:r>
              <a:rPr lang="en-US" b="1" dirty="0"/>
              <a:t>“Banking Overall </a:t>
            </a:r>
            <a:r>
              <a:rPr lang="en-001" b="1" dirty="0"/>
              <a:t>exp</a:t>
            </a:r>
            <a:r>
              <a:rPr lang="en-US" b="1" dirty="0"/>
              <a:t> CSAT”</a:t>
            </a:r>
            <a:r>
              <a:rPr lang="en-US" dirty="0"/>
              <a:t> was selected as the primary holistic </a:t>
            </a:r>
            <a:r>
              <a:rPr lang="en-001" dirty="0"/>
              <a:t>indicator metric for </a:t>
            </a:r>
            <a:r>
              <a:rPr lang="en-US" dirty="0"/>
              <a:t>satisfaction, based on its semantic meaning and </a:t>
            </a:r>
            <a:r>
              <a:rPr lang="en-001" dirty="0"/>
              <a:t>an assumption of its</a:t>
            </a:r>
            <a:r>
              <a:rPr lang="en-US" dirty="0"/>
              <a:t> importance</a:t>
            </a:r>
            <a:r>
              <a:rPr lang="en-00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73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A98A-DD6C-5F0E-DF68-0BF9B9EFE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B03B-5D4A-1A3C-2E84-2248B722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Methodology: 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D53EE-30AB-5A00-5406-D672D4DE0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001" b="1" dirty="0"/>
              <a:t>The analysis began with cleaning the dataset by removing: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Non-analytical variables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Clearly redundant variables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Duplicate records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Broken or inconsistent variable names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Variables with excessive missingness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Variables with zero or near-zero variance</a:t>
            </a:r>
          </a:p>
        </p:txBody>
      </p:sp>
    </p:spTree>
    <p:extLst>
      <p:ext uri="{BB962C8B-B14F-4D97-AF65-F5344CB8AC3E}">
        <p14:creationId xmlns:p14="http://schemas.microsoft.com/office/powerpoint/2010/main" val="2781355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74E46-22D4-3199-CA96-4F7476727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BE982-86F4-7891-BFCE-9628C34F2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Methodology: Driver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79BF1-8BD1-D607-02D9-523E3FD3D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To address the driver analysis, only CSAT-related variables were included.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As an initial exploratory step, a correlation analysis was conducted between all variables and the target.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Most variables were </a:t>
            </a:r>
            <a:r>
              <a:rPr lang="en-001" dirty="0"/>
              <a:t>tightly</a:t>
            </a:r>
            <a:r>
              <a:rPr lang="en-US" dirty="0"/>
              <a:t> correlated with the target</a:t>
            </a:r>
            <a:r>
              <a:rPr lang="en-001" dirty="0"/>
              <a:t>.</a:t>
            </a:r>
            <a:r>
              <a:rPr lang="en-US" dirty="0"/>
              <a:t> </a:t>
            </a:r>
            <a:r>
              <a:rPr lang="en-001" dirty="0"/>
              <a:t>H</a:t>
            </a:r>
            <a:r>
              <a:rPr lang="en-US" dirty="0" err="1"/>
              <a:t>owever</a:t>
            </a:r>
            <a:r>
              <a:rPr lang="en-US" dirty="0"/>
              <a:t>, the negligible granularity between scores (</a:t>
            </a:r>
            <a:r>
              <a:rPr lang="en-001" dirty="0"/>
              <a:t>between </a:t>
            </a:r>
            <a:r>
              <a:rPr lang="en-US" dirty="0"/>
              <a:t>0.01 to 0.1) was insufficient to identify a clear</a:t>
            </a:r>
            <a:r>
              <a:rPr lang="en-001" dirty="0"/>
              <a:t> and </a:t>
            </a:r>
            <a:r>
              <a:rPr lang="en-US" dirty="0"/>
              <a:t>genuine driver.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This lack of separation made simple ranking unreliable</a:t>
            </a:r>
            <a:r>
              <a:rPr lang="en-001" dirty="0"/>
              <a:t>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Thus</a:t>
            </a:r>
            <a:r>
              <a:rPr lang="en-US" dirty="0"/>
              <a:t>, more robust analysis was therefore required.</a:t>
            </a:r>
          </a:p>
        </p:txBody>
      </p:sp>
    </p:spTree>
    <p:extLst>
      <p:ext uri="{BB962C8B-B14F-4D97-AF65-F5344CB8AC3E}">
        <p14:creationId xmlns:p14="http://schemas.microsoft.com/office/powerpoint/2010/main" val="1141556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25486-7C5D-EEBB-CC8C-D0FD172AC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AC843-F9F7-8F20-37CC-086EBEF17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Methodology: Driver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FCA5D-C1E9-4241-8A71-E71DA56E8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001" b="1" dirty="0"/>
              <a:t> </a:t>
            </a:r>
            <a:r>
              <a:rPr lang="en-US" b="1" dirty="0"/>
              <a:t>To facilitate deeper analysis, survey questions were grouped into five major </a:t>
            </a:r>
            <a:r>
              <a:rPr lang="en-001" b="1" dirty="0"/>
              <a:t>groups</a:t>
            </a:r>
            <a:r>
              <a:rPr lang="en-US" b="1" dirty="0"/>
              <a:t>, based on conceptual similarity: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 </a:t>
            </a:r>
            <a:r>
              <a:rPr lang="en-US" dirty="0"/>
              <a:t>Service </a:t>
            </a:r>
            <a:r>
              <a:rPr lang="en-001" dirty="0"/>
              <a:t>and</a:t>
            </a:r>
            <a:r>
              <a:rPr lang="en-US" dirty="0"/>
              <a:t> Support</a:t>
            </a:r>
            <a:r>
              <a:rPr lang="en-001" dirty="0"/>
              <a:t>: </a:t>
            </a:r>
            <a:r>
              <a:rPr lang="en-US" dirty="0"/>
              <a:t>staff behavior, responsiveness, issue resolution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 </a:t>
            </a:r>
            <a:r>
              <a:rPr lang="en-US" dirty="0"/>
              <a:t>Physical Reach</a:t>
            </a:r>
            <a:r>
              <a:rPr lang="en-001" dirty="0"/>
              <a:t>: </a:t>
            </a:r>
            <a:r>
              <a:rPr lang="en-US" dirty="0"/>
              <a:t>branch availability, ATM access, waiting times, facility comfort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 </a:t>
            </a:r>
            <a:r>
              <a:rPr lang="en-US" dirty="0"/>
              <a:t>Digital Experience</a:t>
            </a:r>
            <a:r>
              <a:rPr lang="en-001" dirty="0"/>
              <a:t>: </a:t>
            </a:r>
            <a:r>
              <a:rPr lang="en-US" dirty="0"/>
              <a:t>mobile app, online banking, digital usability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 </a:t>
            </a:r>
            <a:r>
              <a:rPr lang="en-US" dirty="0"/>
              <a:t>Product Value</a:t>
            </a:r>
            <a:r>
              <a:rPr lang="en-001" dirty="0"/>
              <a:t>: </a:t>
            </a:r>
            <a:r>
              <a:rPr lang="en-US" dirty="0"/>
              <a:t>fees, rates, rewards, promotions</a:t>
            </a:r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 </a:t>
            </a:r>
            <a:r>
              <a:rPr lang="en-US" dirty="0"/>
              <a:t>Trust </a:t>
            </a:r>
            <a:r>
              <a:rPr lang="en-001" dirty="0"/>
              <a:t>and</a:t>
            </a:r>
            <a:r>
              <a:rPr lang="en-US" dirty="0"/>
              <a:t> Security</a:t>
            </a:r>
            <a:r>
              <a:rPr lang="en-001" dirty="0"/>
              <a:t>: </a:t>
            </a:r>
            <a:r>
              <a:rPr lang="en-US" dirty="0"/>
              <a:t>safety, transparency, ethical standards</a:t>
            </a:r>
          </a:p>
        </p:txBody>
      </p:sp>
    </p:spTree>
    <p:extLst>
      <p:ext uri="{BB962C8B-B14F-4D97-AF65-F5344CB8AC3E}">
        <p14:creationId xmlns:p14="http://schemas.microsoft.com/office/powerpoint/2010/main" val="1534126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6ECC3-5F00-7F16-B9AA-B123FC95E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23C53-6FB2-CDA3-3EE6-E53DE1A5D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Methodology: Driver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A9344-F19E-7252-8A2D-D16DE24B1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To </a:t>
            </a:r>
            <a:r>
              <a:rPr lang="en-001" dirty="0"/>
              <a:t>facilitate</a:t>
            </a:r>
            <a:r>
              <a:rPr lang="en-US" dirty="0"/>
              <a:t> interpretability, Ordinary Least Squares (OLS) regression was initially used to</a:t>
            </a:r>
            <a:r>
              <a:rPr lang="en-001" dirty="0"/>
              <a:t> </a:t>
            </a:r>
            <a:r>
              <a:rPr lang="en-US" dirty="0"/>
              <a:t>identify drivers of satisfaction.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However, the model failed due to severe multicollinearity </a:t>
            </a:r>
            <a:r>
              <a:rPr lang="en-001" dirty="0"/>
              <a:t>with variation inflation factor (</a:t>
            </a:r>
            <a:r>
              <a:rPr lang="en-US" dirty="0"/>
              <a:t>VIF</a:t>
            </a:r>
            <a:r>
              <a:rPr lang="en-001" dirty="0"/>
              <a:t>)</a:t>
            </a:r>
            <a:r>
              <a:rPr lang="en-US" dirty="0"/>
              <a:t> values ranging from 100–300 and produced illogical coefficients</a:t>
            </a:r>
            <a:r>
              <a:rPr lang="en-001" dirty="0"/>
              <a:t>, for example, </a:t>
            </a:r>
            <a:r>
              <a:rPr lang="en-US" dirty="0"/>
              <a:t>Trust &amp; Security showing a negative impact.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This indicated that linear models and their variants were unreliable for driver </a:t>
            </a:r>
            <a:r>
              <a:rPr lang="en-001" dirty="0"/>
              <a:t>analysis.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277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ECB3-F19E-5C9B-A31D-9178C4D65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3EF51-A751-56F9-AB6A-1B81B5182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Methodology: Driver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401CF-CD3E-569B-2C74-F41B67C4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To achieve reliability, robustness, and interpretability, a </a:t>
            </a:r>
            <a:r>
              <a:rPr lang="en-001" dirty="0"/>
              <a:t>h</a:t>
            </a:r>
            <a:r>
              <a:rPr lang="en-US" dirty="0" err="1"/>
              <a:t>istogram</a:t>
            </a:r>
            <a:r>
              <a:rPr lang="en-US" dirty="0"/>
              <a:t> </a:t>
            </a:r>
            <a:r>
              <a:rPr lang="en-001" dirty="0"/>
              <a:t>g</a:t>
            </a:r>
            <a:r>
              <a:rPr lang="en-US" dirty="0" err="1"/>
              <a:t>radient</a:t>
            </a:r>
            <a:r>
              <a:rPr lang="en-US" dirty="0"/>
              <a:t> </a:t>
            </a:r>
            <a:r>
              <a:rPr lang="en-001" dirty="0"/>
              <a:t>b</a:t>
            </a:r>
            <a:r>
              <a:rPr lang="en-US" dirty="0" err="1"/>
              <a:t>oosting</a:t>
            </a:r>
            <a:r>
              <a:rPr lang="en-US" dirty="0"/>
              <a:t> model was used, supported by </a:t>
            </a:r>
            <a:r>
              <a:rPr lang="en-001" dirty="0"/>
              <a:t>p</a:t>
            </a:r>
            <a:r>
              <a:rPr lang="en-US" dirty="0" err="1"/>
              <a:t>ermutation</a:t>
            </a:r>
            <a:r>
              <a:rPr lang="en-US" dirty="0"/>
              <a:t> </a:t>
            </a:r>
            <a:r>
              <a:rPr lang="en-001" dirty="0"/>
              <a:t>i</a:t>
            </a:r>
            <a:r>
              <a:rPr lang="en-US" dirty="0" err="1"/>
              <a:t>mportance</a:t>
            </a:r>
            <a:r>
              <a:rPr lang="en-US" dirty="0"/>
              <a:t> and</a:t>
            </a:r>
            <a:r>
              <a:rPr lang="en-001" dirty="0"/>
              <a:t> </a:t>
            </a:r>
            <a:r>
              <a:rPr lang="en-001" dirty="0" err="1"/>
              <a:t>SHapley</a:t>
            </a:r>
            <a:r>
              <a:rPr lang="en-001" dirty="0"/>
              <a:t> Additive </a:t>
            </a:r>
            <a:r>
              <a:rPr lang="en-001" dirty="0" err="1"/>
              <a:t>exPlanations</a:t>
            </a:r>
            <a:r>
              <a:rPr lang="en-US" dirty="0"/>
              <a:t> </a:t>
            </a:r>
            <a:r>
              <a:rPr lang="en-001" dirty="0"/>
              <a:t>(</a:t>
            </a:r>
            <a:r>
              <a:rPr lang="en-US" dirty="0"/>
              <a:t>SHAP</a:t>
            </a:r>
            <a:r>
              <a:rPr lang="en-001" dirty="0"/>
              <a:t>)</a:t>
            </a:r>
            <a:r>
              <a:rPr lang="en-US" dirty="0"/>
              <a:t> values for driver interpretation.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The model was trained using an 80/20 train-test split with 5-fold cross-validation.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It achieved an R² of 0.39 on the training set and 0.37 on the test set.</a:t>
            </a:r>
          </a:p>
        </p:txBody>
      </p:sp>
    </p:spTree>
    <p:extLst>
      <p:ext uri="{BB962C8B-B14F-4D97-AF65-F5344CB8AC3E}">
        <p14:creationId xmlns:p14="http://schemas.microsoft.com/office/powerpoint/2010/main" val="1532393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19C9-1E22-2AFE-8F16-A3D335DA6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C5708-3991-3774-C3B3-6BBEDD42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Methodology: 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4FBA0-70D0-ECA7-EE57-0C3FCEE77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To uncover trends, group-by analysis and cross-tabulation were conducted across the following </a:t>
            </a:r>
            <a:r>
              <a:rPr lang="en-001" b="1" dirty="0"/>
              <a:t>variables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Age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Nationality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Region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Income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Account age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Primary bank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Support usage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Preferred service channel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Banking Overall Experience CSAT</a:t>
            </a:r>
          </a:p>
        </p:txBody>
      </p:sp>
    </p:spTree>
    <p:extLst>
      <p:ext uri="{BB962C8B-B14F-4D97-AF65-F5344CB8AC3E}">
        <p14:creationId xmlns:p14="http://schemas.microsoft.com/office/powerpoint/2010/main" val="637188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31169-C6E5-8593-6F22-721C284E1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C1527-18E4-8AD7-2D5B-527D51050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032" y="2215661"/>
            <a:ext cx="11405936" cy="1615564"/>
          </a:xfrm>
        </p:spPr>
        <p:txBody>
          <a:bodyPr>
            <a:normAutofit/>
          </a:bodyPr>
          <a:lstStyle/>
          <a:p>
            <a:pPr algn="ctr"/>
            <a:r>
              <a:rPr lang="en-001" sz="7000" b="1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864688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AA4B-4CA3-DA53-1B32-73AB1237F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Results: Driver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ADFE523-750C-0624-8694-DDB790ECD5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" r="968"/>
          <a:stretch>
            <a:fillRect/>
          </a:stretch>
        </p:blipFill>
        <p:spPr>
          <a:xfrm>
            <a:off x="1036319" y="1908200"/>
            <a:ext cx="6242786" cy="2723958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3E6D85-6B7A-D853-7E12-EF2535B53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4802998"/>
            <a:ext cx="10349564" cy="145075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Physical Reach (</a:t>
            </a:r>
            <a:r>
              <a:rPr lang="en-001" dirty="0"/>
              <a:t>branch, ATMs, comfort</a:t>
            </a:r>
            <a:r>
              <a:rPr lang="en-US" dirty="0"/>
              <a:t>) is the </a:t>
            </a:r>
            <a:r>
              <a:rPr lang="en-001" dirty="0"/>
              <a:t>most influential driver of satisfaction</a:t>
            </a:r>
            <a:r>
              <a:rPr lang="en-US" dirty="0"/>
              <a:t>.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It shows 3x the impact compared to Service Support. </a:t>
            </a:r>
          </a:p>
        </p:txBody>
      </p:sp>
    </p:spTree>
    <p:extLst>
      <p:ext uri="{BB962C8B-B14F-4D97-AF65-F5344CB8AC3E}">
        <p14:creationId xmlns:p14="http://schemas.microsoft.com/office/powerpoint/2010/main" val="4029429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2194-3C6E-E8F1-40DD-5A3009A0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E47B-CD11-E574-A20B-28CADBBEB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Results: Driver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6FB245E-5352-B3F8-8B09-7394987AFB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" r="968"/>
          <a:stretch>
            <a:fillRect/>
          </a:stretch>
        </p:blipFill>
        <p:spPr>
          <a:xfrm>
            <a:off x="1036319" y="1908200"/>
            <a:ext cx="6242786" cy="2723958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91B673-F01A-B4EC-FBB0-E8E0C31AA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4802998"/>
            <a:ext cx="10939112" cy="145075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The other group showed milder effect on satisfaction. However, there is ranking among them.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S</a:t>
            </a:r>
            <a:r>
              <a:rPr lang="en-001" dirty="0" err="1"/>
              <a:t>ervice</a:t>
            </a:r>
            <a:r>
              <a:rPr lang="en-001" dirty="0"/>
              <a:t> Support is the second most impactful, with 25%+ compared to other groups. </a:t>
            </a:r>
          </a:p>
          <a:p>
            <a:pPr marL="0" indent="0">
              <a:buNone/>
            </a:pPr>
            <a:r>
              <a:rPr lang="en-001" dirty="0"/>
              <a:t>(</a:t>
            </a:r>
            <a:r>
              <a:rPr lang="en-US" dirty="0"/>
              <a:t>staff behavior, responsiveness, issue resolution</a:t>
            </a:r>
            <a:r>
              <a:rPr lang="en-00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3567203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64A0E-71A5-7EAE-B0B9-4F78AA05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4983-4155-48ED-765B-AA1A1B3B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Results: Driver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9C731F7-70AF-FF89-4D8F-8234ED0AE7D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" r="968"/>
          <a:stretch>
            <a:fillRect/>
          </a:stretch>
        </p:blipFill>
        <p:spPr>
          <a:xfrm>
            <a:off x="1036319" y="1908200"/>
            <a:ext cx="6242786" cy="2723958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AFFFE1-873F-B466-E9EA-2A723C9CD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8720" y="4802998"/>
            <a:ext cx="10939112" cy="145075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Product Value and Digital Experience scored similarly.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Trust and Security is the least influential.</a:t>
            </a:r>
          </a:p>
        </p:txBody>
      </p:sp>
    </p:spTree>
    <p:extLst>
      <p:ext uri="{BB962C8B-B14F-4D97-AF65-F5344CB8AC3E}">
        <p14:creationId xmlns:p14="http://schemas.microsoft.com/office/powerpoint/2010/main" val="1145552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22EA7-5BB6-755A-412A-E4EF96F3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A5E34-350D-7209-951F-90400EFF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Results: Driver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0A9153-5D04-B2C4-466B-B0D7D80EC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2704" y="4802998"/>
            <a:ext cx="10939112" cy="145075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Poor Physical Reach is a greatly detrimental to satisfaction (-0.9) 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CF2E427-7EBE-6E9C-D3D4-D9D7F484CB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35" y="1920299"/>
            <a:ext cx="5976970" cy="2726740"/>
          </a:xfrm>
        </p:spPr>
      </p:pic>
    </p:spTree>
    <p:extLst>
      <p:ext uri="{BB962C8B-B14F-4D97-AF65-F5344CB8AC3E}">
        <p14:creationId xmlns:p14="http://schemas.microsoft.com/office/powerpoint/2010/main" val="3540158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15813-FAF1-B412-23EB-8A8E1D9F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851D-D69B-6FBB-41B0-870E96C0E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Results: Trend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9B666FC-EBD8-BA06-AA5D-661F91EBF4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5"/>
          <a:stretch>
            <a:fillRect/>
          </a:stretch>
        </p:blipFill>
        <p:spPr>
          <a:xfrm>
            <a:off x="6234363" y="1857767"/>
            <a:ext cx="5425216" cy="3711742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51D5A0-DA1A-0DD5-0C01-03383D26B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1346" y="1857767"/>
            <a:ext cx="493776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Age groups between 15 and 49 reported similar satisfaction scores, with minimal variation </a:t>
            </a:r>
            <a:r>
              <a:rPr lang="en-001" dirty="0"/>
              <a:t>between 4.4 and 4.5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However, there is a noticeable decline among senior customers aged 50 and over, with a score of 3.9.</a:t>
            </a:r>
          </a:p>
          <a:p>
            <a:pPr>
              <a:buFont typeface="Arial" panose="020B0604020202020204" pitchFamily="34" charset="0"/>
              <a:buChar char="•"/>
            </a:pP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256157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FEDC7-435B-34C8-9533-C0088FBD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F87CB-0815-2D15-E3E8-59ADB1E87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Results: Trend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A9A3B7-67BE-5E93-0DE7-A52A06CBB5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1346" y="1857767"/>
            <a:ext cx="493776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Emirates National Bank of Dubai (n=76) achieved the highest satisfaction score at 4.6,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Although </a:t>
            </a:r>
            <a:r>
              <a:rPr lang="en-US" dirty="0"/>
              <a:t>Mashreq Bank</a:t>
            </a:r>
            <a:r>
              <a:rPr lang="en-001" dirty="0"/>
              <a:t> reported</a:t>
            </a:r>
            <a:r>
              <a:rPr lang="en-US" dirty="0"/>
              <a:t> a similar rating</a:t>
            </a:r>
            <a:r>
              <a:rPr lang="en-001" dirty="0"/>
              <a:t>, it had a smaller sample size (n=23).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F3C765-7E18-D2B2-FCDA-3389035912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74961"/>
            <a:ext cx="5490326" cy="4106166"/>
          </a:xfrm>
        </p:spPr>
      </p:pic>
    </p:spTree>
    <p:extLst>
      <p:ext uri="{BB962C8B-B14F-4D97-AF65-F5344CB8AC3E}">
        <p14:creationId xmlns:p14="http://schemas.microsoft.com/office/powerpoint/2010/main" val="3845872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FF6C-3053-502D-9C9D-53A6E95A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B00C-7150-47F6-CF15-284FEFF8F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Results: Trend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43E227-CBD2-8FC3-F8F6-A3D2ABF83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1346" y="1857767"/>
            <a:ext cx="4798428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Other banks showed similar satisfaction scores, ranging between 4.4 and 4.5.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However, Dubai Islamic Bank reported the lowest score at 4.1 (n=39).</a:t>
            </a:r>
            <a:endParaRPr lang="en-001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2B04ECF-68A9-DFB0-A41F-18871AE6299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74961"/>
            <a:ext cx="5490326" cy="4106166"/>
          </a:xfrm>
        </p:spPr>
      </p:pic>
    </p:spTree>
    <p:extLst>
      <p:ext uri="{BB962C8B-B14F-4D97-AF65-F5344CB8AC3E}">
        <p14:creationId xmlns:p14="http://schemas.microsoft.com/office/powerpoint/2010/main" val="878702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A24A6-5404-9160-5334-D5E07349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0B28-8ED6-0F49-D8DE-E135AB06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Results: Trend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6748E4-E879-2913-40F9-26E30B613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1346" y="1857767"/>
            <a:ext cx="4798428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Satisfaction levels show a general upward trend as account </a:t>
            </a:r>
            <a:r>
              <a:rPr lang="en-001" dirty="0"/>
              <a:t>age</a:t>
            </a:r>
            <a:r>
              <a:rPr lang="en-US" dirty="0"/>
              <a:t> increases.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lowest scores are found among new customers, specifically those with less than one year of , who </a:t>
            </a:r>
            <a:r>
              <a:rPr lang="en-001" dirty="0"/>
              <a:t>report</a:t>
            </a:r>
            <a:r>
              <a:rPr lang="en-US" dirty="0"/>
              <a:t> 4.1.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Satisfaction </a:t>
            </a:r>
            <a:r>
              <a:rPr lang="en-001" dirty="0"/>
              <a:t>is the highest</a:t>
            </a:r>
            <a:r>
              <a:rPr lang="en-US" dirty="0"/>
              <a:t> among customers of 2 to 5 years at approximately 4.5, while loyal customers (more than 5 years) show a slight dip to 4.4.</a:t>
            </a:r>
            <a:endParaRPr lang="en-00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0A381-9438-92AD-E2A1-68CAC4BFA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736" y="1857767"/>
            <a:ext cx="5150026" cy="359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665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8685-F12B-C4A9-1D4E-9EB75E91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F3DB-F671-AB3E-A622-9BA99836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Results: Trend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AF4A52-678B-1B40-8B64-F322FCE3A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1346" y="1857767"/>
            <a:ext cx="4798428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Customer satisfaction is highest among those who prefer Digital contact (4.49).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Those w</a:t>
            </a:r>
            <a:r>
              <a:rPr lang="en-US" dirty="0"/>
              <a:t>ho prefer Phone Calls (4.36)</a:t>
            </a:r>
            <a:r>
              <a:rPr lang="en-001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And those who prefer</a:t>
            </a:r>
            <a:r>
              <a:rPr lang="en-US" dirty="0"/>
              <a:t> In-Person interactions reported slightly lower satisfaction levels</a:t>
            </a:r>
            <a:r>
              <a:rPr lang="en-001" dirty="0"/>
              <a:t> </a:t>
            </a:r>
            <a:r>
              <a:rPr lang="en-US" dirty="0"/>
              <a:t>(4.33).</a:t>
            </a:r>
            <a:endParaRPr lang="en-00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A7D4EA-86F5-38A2-F4B0-A2D0DD70C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759" y="2057399"/>
            <a:ext cx="5431930" cy="347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968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58BD4-A077-5D02-BF10-DCBF34D2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AA6E2-F629-8F44-3C33-AFABFF1AE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Results: Trend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F9BF8BC-99C9-E995-4F2F-3124914321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1346" y="1857767"/>
            <a:ext cx="4798428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divide exists in channel preferences between age groups.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Younger customers (20–49) report higher satisfaction when using Digital </a:t>
            </a:r>
            <a:r>
              <a:rPr lang="en-001" dirty="0"/>
              <a:t>followed by</a:t>
            </a:r>
            <a:r>
              <a:rPr lang="en-US" dirty="0"/>
              <a:t> Phone channels, while rating In-Person visits the lowest.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contrast, Seniors (50+; n=32) show the opposite trend</a:t>
            </a:r>
            <a:r>
              <a:rPr lang="en-001" dirty="0"/>
              <a:t>,</a:t>
            </a:r>
            <a:r>
              <a:rPr lang="en-US" dirty="0"/>
              <a:t> they are most satisfied with In-Person interactions (4.25) and least satisfied with Phone Calls</a:t>
            </a:r>
            <a:r>
              <a:rPr lang="en-001" dirty="0"/>
              <a:t> (3.7)</a:t>
            </a:r>
            <a:r>
              <a:rPr lang="en-US" dirty="0"/>
              <a:t>.</a:t>
            </a:r>
            <a:endParaRPr lang="en-00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63376A-4E88-80F1-8D6F-06855D046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590" y="1737360"/>
            <a:ext cx="6150196" cy="452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1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64495-0052-6939-5F3A-1AF5B4E8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61B7-21DC-2168-5BE7-EF2A703F4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032" y="2215661"/>
            <a:ext cx="11405936" cy="1615564"/>
          </a:xfrm>
        </p:spPr>
        <p:txBody>
          <a:bodyPr>
            <a:normAutofit/>
          </a:bodyPr>
          <a:lstStyle/>
          <a:p>
            <a:pPr algn="ctr"/>
            <a:r>
              <a:rPr lang="en-001" sz="7000" b="1" dirty="0"/>
              <a:t>Actionable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0944257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6A95F-91FD-69C6-08B7-A37422A08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7C40B-AF9A-A3AE-503E-2B252D868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E694E-AFD1-9160-4A7E-2BDE79711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Protect</a:t>
            </a:r>
            <a:r>
              <a:rPr lang="en-001" dirty="0"/>
              <a:t> and maintain</a:t>
            </a:r>
            <a:r>
              <a:rPr lang="en-US" dirty="0"/>
              <a:t> the </a:t>
            </a:r>
            <a:r>
              <a:rPr lang="en-001" dirty="0"/>
              <a:t>Master </a:t>
            </a:r>
            <a:r>
              <a:rPr lang="en-US" dirty="0"/>
              <a:t>Driver (Physical Reach): Prioritize branch and ATM availability and reduce waiting times. Maintaining these "Physical Reach" factors is critical to </a:t>
            </a:r>
            <a:r>
              <a:rPr lang="en-001" dirty="0"/>
              <a:t>protect the </a:t>
            </a:r>
            <a:r>
              <a:rPr lang="en-US" dirty="0"/>
              <a:t>strongest driver of satisfaction. 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Design and implement targeted improvements for senior customers, focusing on enhancing the experience within their preferred In-Person channels. 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Simplify and streamline the early-stage customer experience to </a:t>
            </a:r>
            <a:r>
              <a:rPr lang="en-001" dirty="0"/>
              <a:t>improve</a:t>
            </a:r>
            <a:r>
              <a:rPr lang="en-US" dirty="0"/>
              <a:t> the satisfaction gap seen in the first 12 months </a:t>
            </a:r>
            <a:r>
              <a:rPr lang="en-001" dirty="0"/>
              <a:t>of the account age</a:t>
            </a:r>
            <a:r>
              <a:rPr lang="en-US" dirty="0"/>
              <a:t>. </a:t>
            </a:r>
            <a:endParaRPr lang="en-001" dirty="0"/>
          </a:p>
          <a:p>
            <a:pPr>
              <a:buFont typeface="Arial" panose="020B0604020202020204" pitchFamily="34" charset="0"/>
              <a:buChar char="•"/>
            </a:pPr>
            <a:r>
              <a:rPr lang="en-001" dirty="0"/>
              <a:t> </a:t>
            </a:r>
            <a:r>
              <a:rPr lang="en-US" dirty="0"/>
              <a:t>Maintain and improve staff responsiveness and issue resolution. Service &amp; Support remains a significantly stronger driver of satisfaction (25%+) compared to Product or Digital groups.</a:t>
            </a:r>
          </a:p>
        </p:txBody>
      </p:sp>
    </p:spTree>
    <p:extLst>
      <p:ext uri="{BB962C8B-B14F-4D97-AF65-F5344CB8AC3E}">
        <p14:creationId xmlns:p14="http://schemas.microsoft.com/office/powerpoint/2010/main" val="4222076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6D0E2-56CD-F282-12C0-7D26E5123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2CB3-B3E1-C8C1-9907-1C825427B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032" y="2215661"/>
            <a:ext cx="11405936" cy="1615564"/>
          </a:xfrm>
        </p:spPr>
        <p:txBody>
          <a:bodyPr>
            <a:normAutofit/>
          </a:bodyPr>
          <a:lstStyle/>
          <a:p>
            <a:pPr algn="ctr"/>
            <a:r>
              <a:rPr lang="en-001" sz="7000" b="1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182221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1A9F-24B0-3100-CB08-AA490C037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A464-62AC-507D-D5A5-BB2513B1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491F5-A350-C083-6874-551478E7C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Lack of survey metadata and documentation</a:t>
            </a:r>
            <a:r>
              <a:rPr lang="en-001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 key limitation of this analysis is that the dataset lacks metadata or documentation explaining how the survey questions were designed and what they represent. </a:t>
            </a:r>
            <a:endParaRPr lang="en-00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 a result, the </a:t>
            </a:r>
            <a:r>
              <a:rPr lang="en-US" i="1" dirty="0"/>
              <a:t>“Banking overall exp CSAT numeric”</a:t>
            </a:r>
            <a:r>
              <a:rPr lang="en-US" dirty="0"/>
              <a:t> target was treated at face value as the primary measure of satisfaction, and the analysis was built around it. </a:t>
            </a:r>
            <a:endParaRPr lang="en-00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However, this target variable may not fully capture the underlying reasons behind customer experience or the true meaning intended by the researcher. </a:t>
            </a:r>
            <a:endParaRPr lang="en-00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Therefore, the insights and results of this analysis may be impacted by this uncertainty.</a:t>
            </a:r>
          </a:p>
        </p:txBody>
      </p:sp>
    </p:spTree>
    <p:extLst>
      <p:ext uri="{BB962C8B-B14F-4D97-AF65-F5344CB8AC3E}">
        <p14:creationId xmlns:p14="http://schemas.microsoft.com/office/powerpoint/2010/main" val="216626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D5AF1-6F32-3A99-7F97-B9E3469D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38C5E-0259-25F7-4392-527C990D2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790E-893E-3724-04CC-64E8F4D4A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Self-reporting bias in survey data</a:t>
            </a:r>
            <a:r>
              <a:rPr lang="en-001" b="1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This dataset is derived from a survey-based study. Such responses are prone to self-reporting bias, where psychological, emotional, subjective, and personal prejudices may affect the accuracy of the scores. </a:t>
            </a:r>
            <a:endParaRPr lang="en-00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As a result, the reported satisfaction levels may not perfectly reflect real-world experiences or objective service quality. </a:t>
            </a:r>
            <a:endParaRPr lang="en-001" dirty="0"/>
          </a:p>
          <a:p>
            <a:pPr marL="457200" indent="-457200">
              <a:buFont typeface="+mj-lt"/>
              <a:buAutoNum type="arabicPeriod"/>
            </a:pPr>
            <a:r>
              <a:rPr lang="en-001" dirty="0"/>
              <a:t>Therefore</a:t>
            </a:r>
            <a:r>
              <a:rPr lang="en-US" dirty="0"/>
              <a:t>, findings based on this data should be interpreted carefully, and any strong decisions should be supported by supplementary data or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3411083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3447-8D6C-B7D5-FCC9-3B2BF5CF8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5DE39-A102-3307-11E5-40BF5364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001" b="1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F0D1B-7D11-6968-2F0C-40AF5C474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001" b="1" dirty="0"/>
              <a:t>Model explanatory power (R2) 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Histogram Gradient Boosting model used for this analysis achieved an R2 of 0.37 on the test set.  </a:t>
            </a:r>
            <a:endParaRPr lang="en-00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This indicates that while the identified drivers are significant, approximately 63% of the variation in customer satisfaction remains unexplained by the variables included in this study.  </a:t>
            </a:r>
            <a:endParaRPr lang="en-00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Such a result is common in survey data, but it suggests that external factors</a:t>
            </a:r>
            <a:r>
              <a:rPr lang="en-001" dirty="0"/>
              <a:t> </a:t>
            </a:r>
            <a:r>
              <a:rPr lang="en-US" dirty="0"/>
              <a:t>may also play a </a:t>
            </a:r>
            <a:r>
              <a:rPr lang="en-001" dirty="0"/>
              <a:t>stronger</a:t>
            </a:r>
            <a:r>
              <a:rPr lang="en-US" dirty="0"/>
              <a:t> role in </a:t>
            </a:r>
            <a:r>
              <a:rPr lang="en-001" dirty="0"/>
              <a:t>affecting</a:t>
            </a:r>
            <a:r>
              <a:rPr lang="en-US" dirty="0"/>
              <a:t> satisfaction.  </a:t>
            </a:r>
            <a:endParaRPr lang="en-001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Therefore, the five driver groups should be viewed as primary internal influencers rather than an exhaustive list of all factors affecting customer experience.</a:t>
            </a:r>
          </a:p>
        </p:txBody>
      </p:sp>
    </p:spTree>
    <p:extLst>
      <p:ext uri="{BB962C8B-B14F-4D97-AF65-F5344CB8AC3E}">
        <p14:creationId xmlns:p14="http://schemas.microsoft.com/office/powerpoint/2010/main" val="1891621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6AB0A-3A20-A452-AB04-87D360D4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4E19-3B51-16F3-C68B-71C247401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032" y="2215661"/>
            <a:ext cx="11405936" cy="1615564"/>
          </a:xfrm>
        </p:spPr>
        <p:txBody>
          <a:bodyPr>
            <a:normAutofit/>
          </a:bodyPr>
          <a:lstStyle/>
          <a:p>
            <a:pPr algn="ctr"/>
            <a:r>
              <a:rPr lang="en-001" sz="70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6772772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</TotalTime>
  <Words>1654</Words>
  <Application>Microsoft Office PowerPoint</Application>
  <PresentationFormat>Widescreen</PresentationFormat>
  <Paragraphs>142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Times New Roman</vt:lpstr>
      <vt:lpstr>Retrospect</vt:lpstr>
      <vt:lpstr>Office Theme</vt:lpstr>
      <vt:lpstr>UAE Banking Customer Satisfaction Analysis  A Case Study</vt:lpstr>
      <vt:lpstr>PowerPoint Presentation</vt:lpstr>
      <vt:lpstr>Table of Contents</vt:lpstr>
      <vt:lpstr>Introduction</vt:lpstr>
      <vt:lpstr>Introduction</vt:lpstr>
      <vt:lpstr>Methodology</vt:lpstr>
      <vt:lpstr>Methodology</vt:lpstr>
      <vt:lpstr>Methodology: Data Cleaning</vt:lpstr>
      <vt:lpstr>Methodology: Driver Analysis</vt:lpstr>
      <vt:lpstr>Methodology: Driver Analysis</vt:lpstr>
      <vt:lpstr>Methodology: Driver Analysis</vt:lpstr>
      <vt:lpstr>Methodology: Driver Analysis</vt:lpstr>
      <vt:lpstr>Methodology: Trend Analysis</vt:lpstr>
      <vt:lpstr>Results</vt:lpstr>
      <vt:lpstr>Results: Driver Analysis</vt:lpstr>
      <vt:lpstr>Results: Driver Analysis</vt:lpstr>
      <vt:lpstr>Results: Driver Analysis</vt:lpstr>
      <vt:lpstr>Results: Driver Analysis</vt:lpstr>
      <vt:lpstr>Results: Trend Analysis</vt:lpstr>
      <vt:lpstr>Results: Trend Analysis</vt:lpstr>
      <vt:lpstr>Results: Trend Analysis</vt:lpstr>
      <vt:lpstr>Results: Trend Analysis</vt:lpstr>
      <vt:lpstr>Results: Trend Analysis</vt:lpstr>
      <vt:lpstr>Results: Trend Analysis</vt:lpstr>
      <vt:lpstr>Actionable Recommendations</vt:lpstr>
      <vt:lpstr>Recommendations</vt:lpstr>
      <vt:lpstr>Limitations</vt:lpstr>
      <vt:lpstr>Limitations</vt:lpstr>
      <vt:lpstr>Limitations</vt:lpstr>
      <vt:lpstr>Limitations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Abdulaziz Alrashidi</dc:creator>
  <cp:lastModifiedBy>Abdulaziz Alrashidi</cp:lastModifiedBy>
  <cp:revision>9</cp:revision>
  <cp:lastPrinted>2026-02-09T17:43:21Z</cp:lastPrinted>
  <dcterms:created xsi:type="dcterms:W3CDTF">2026-02-09T00:53:01Z</dcterms:created>
  <dcterms:modified xsi:type="dcterms:W3CDTF">2026-02-09T17:52:07Z</dcterms:modified>
</cp:coreProperties>
</file>